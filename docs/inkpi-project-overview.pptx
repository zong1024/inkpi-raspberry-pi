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INKPI GLOBAL PROJECT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InkPi 全局项目汇报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围绕完整项目展开：终端形态、全链路架构、评分体系、云端同步、训练与测试，而不是只讲某一个功能点。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3840480" cy="356616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51F1C"/>
                </a:solidFill>
                <a:latin typeface="Microsoft YaHei"/>
              </a:rPr>
              <a:t>项目定位</a:t>
            </a:r>
          </a:p>
          <a:p>
            <a:pPr algn="l"/>
            <a:r>
              <a:rPr sz="1600" b="0">
                <a:solidFill>
                  <a:srgbClr val="251F1C"/>
                </a:solidFill>
                <a:latin typeface="Microsoft YaHei"/>
              </a:rPr>
              <a:t>InkPi 是一个面向书法评测场景的完整系统。</a:t>
            </a:r>
          </a:p>
          <a:p>
            <a:pPr algn="l"/>
            <a:r>
              <a:rPr sz="1600" b="0">
                <a:solidFill>
                  <a:srgbClr val="251F1C"/>
                </a:solidFill>
                <a:latin typeface="Microsoft YaHei"/>
              </a:rPr>
              <a:t/>
            </a:r>
          </a:p>
          <a:p>
            <a:pPr algn="l"/>
            <a:r>
              <a:rPr sz="1600" b="0">
                <a:solidFill>
                  <a:srgbClr val="251F1C"/>
                </a:solidFill>
                <a:latin typeface="Microsoft YaHei"/>
              </a:rPr>
              <a:t>它不仅包含本地单字识别与评分，还包含正式展示端、调试端、云端存储、微信小程序和训练链路。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737360"/>
            <a:ext cx="6675120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kpi-projec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938528"/>
            <a:ext cx="6291072" cy="40034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01 /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项目目标与系统边界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先把这个项目到底包含什么、解决什么问题、交付了哪些面讲清楚。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设备侧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0848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PyQt 正式界面、本地拍照评测、本地 SQLite。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7276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调试侧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848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WebUI 拍照 / 上传 / 历史详情 / 原始 debug。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57276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云端侧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08483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Flask Cloud API、CloudDatabase、设备同步接口。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8444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移动侧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965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微信小程序登录、历史、详情展示。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8444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训练侧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965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质量分档、ONNX 模型训练与导出。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584448"/>
            <a:ext cx="3383280" cy="16459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7307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测试侧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4096512"/>
            <a:ext cx="2880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单元测试、接口回归、云同步集成测试。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02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整体架构与模块关系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这一页讲全局结构：从输入入口，到本地评测，再到落库、同步、云端、小程序和训练产物。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7086600" cy="489204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nkpi-project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720840" cy="42768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508760"/>
            <a:ext cx="3611880" cy="489204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关键分层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14884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输入层：PyQt、WebUI、图像上传、小程序。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运行层：Preprocessing、OCR、主分评分、四维解释分。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结果层：EvaluationResult、本地库、Qt/WebUI 展示。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同步层：CloudSync、Cloud API、CloudDatabase。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训练层：quality_scorer 模型训练与导出。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03 /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端到端业务流程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这一页专门讲业务主链，不展开文件细节，只讲评测过程和数据怎么流动。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输入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拍照或上传单字图像</a:t>
            </a:r>
          </a:p>
        </p:txBody>
      </p:sp>
      <p:sp>
        <p:nvSpPr>
          <p:cNvPr id="8" name="Chevron 7"/>
          <p:cNvSpPr/>
          <p:nvPr/>
        </p:nvSpPr>
        <p:spPr>
          <a:xfrm>
            <a:off x="192938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10312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预检、校正、主体提取</a:t>
            </a:r>
          </a:p>
        </p:txBody>
      </p:sp>
      <p:sp>
        <p:nvSpPr>
          <p:cNvPr id="12" name="Chevron 11"/>
          <p:cNvSpPr/>
          <p:nvPr/>
        </p:nvSpPr>
        <p:spPr>
          <a:xfrm>
            <a:off x="334670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4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LocalOcrService 输出 character + confidence</a:t>
            </a:r>
          </a:p>
        </p:txBody>
      </p:sp>
      <p:sp>
        <p:nvSpPr>
          <p:cNvPr id="16" name="Chevron 15"/>
          <p:cNvSpPr/>
          <p:nvPr/>
        </p:nvSpPr>
        <p:spPr>
          <a:xfrm>
            <a:off x="476402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93776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748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主分评分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748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QualityScorerService 输出 total_score 与 quality_level</a:t>
            </a:r>
          </a:p>
        </p:txBody>
      </p:sp>
      <p:sp>
        <p:nvSpPr>
          <p:cNvPr id="20" name="Chevron 19"/>
          <p:cNvSpPr/>
          <p:nvPr/>
        </p:nvSpPr>
        <p:spPr>
          <a:xfrm>
            <a:off x="618134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5508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解释层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DimensionScorerService 输出四维解释分</a:t>
            </a:r>
          </a:p>
        </p:txBody>
      </p:sp>
      <p:sp>
        <p:nvSpPr>
          <p:cNvPr id="24" name="Chevron 23"/>
          <p:cNvSpPr/>
          <p:nvPr/>
        </p:nvSpPr>
        <p:spPr>
          <a:xfrm>
            <a:off x="759866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结果落库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EvaluationResult -&gt; SQLite</a:t>
            </a:r>
          </a:p>
        </p:txBody>
      </p:sp>
      <p:sp>
        <p:nvSpPr>
          <p:cNvPr id="28" name="Chevron 27"/>
          <p:cNvSpPr/>
          <p:nvPr/>
        </p:nvSpPr>
        <p:spPr>
          <a:xfrm>
            <a:off x="901598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2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9448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云端同步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CloudSyncService -&gt; Cloud API</a:t>
            </a:r>
          </a:p>
        </p:txBody>
      </p:sp>
      <p:sp>
        <p:nvSpPr>
          <p:cNvPr id="32" name="Chevron 31"/>
          <p:cNvSpPr/>
          <p:nvPr/>
        </p:nvSpPr>
        <p:spPr>
          <a:xfrm>
            <a:off x="10433304" y="2880360"/>
            <a:ext cx="146304" cy="320040"/>
          </a:xfrm>
          <a:prstGeom prst="chevron">
            <a:avLst/>
          </a:prstGeom>
          <a:solidFill>
            <a:srgbClr val="B66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607040" y="2057400"/>
            <a:ext cx="1234440" cy="22860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16767" y="2267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816"/>
                </a:solidFill>
                <a:latin typeface="Microsoft YaHei"/>
              </a:rPr>
              <a:t>多端展示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6767" y="2761488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A5F55"/>
                </a:solidFill>
                <a:latin typeface="Microsoft YaHei"/>
              </a:rPr>
              <a:t>Qt / WebUI / MiniApp 读取结果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846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现在项目的正式口径是单链路评测：不再依赖模板库主导评分，也不再把四维解释分当作第二套主分系统。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04 /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评测流程与主分生成机制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这一页专门讲“系统怎么评测”，把输入、识别、特征、概率和总分校准逻辑讲清楚。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349240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评测流程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PreprocessingService 先做预检、透视校正、红色网格去除、二值化和单字主体提取，确保送入模型的是稳定 ROI。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同一次评测会同时产出 processed_image 和 ocr_image：前者服务主分模型，后者服务 OCR 识别。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LocalOcrService 输出 character 与 ocr_confidence，既决定“识别出了什么字”，也给后续评分提供置信信号。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QualityScorerService 读取 ONNX 输出，同时复用几何特征和图像质量特征，避免只靠类别概率硬判。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主链最后统一装配成 total_score、quality_level、quality_confidence，并写入本地库、历史页和云同步 payload。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72768"/>
            <a:ext cx="5285232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1051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主分 total_score 怎么来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76272"/>
            <a:ext cx="4572000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ONNX 先输出 bad / medium / good 三档概率，最大概率对应 quality_level，但类别本身不是最终分数。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quality_features 包含 fg_ratio、bbox_ratio、center_quality、component_norm、edge_touch、texture_std，负责刻画墨量、居中、边缘触碰和纹理稳定性。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calibration 中间量包含 feature_quality、probability_margin、quality_confidence_norm、score_range_fit，用来把“分类结果”变成“连续分数”。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系统先定档，再在 bad 44-68 / medium 66-84 / good 82-98 区间内做连续校准，所以同一档内部也能拉开差距。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如果模型直接给 raw_score 且 raw_score &lt;= 1，则走 35% raw + 65% calibrated 的融合策略，兼顾端到端预测和规则校准。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因此 total_score 的口径是“模型概率 + 图像特征 + 分档校准”的综合结果，而不是简单映射分。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05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四维解释分与评价反馈生成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这一页专门讲“系统怎么评价”，把四维解释分和最终反馈文案的生成口径讲清楚。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349240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四维解释分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4617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结构：重点看 center_quality、bbox_ratio_band、projection_balance、bbox_fill_band，回答“字是不是站得正、摆得稳”。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笔画：重点看 texture_std_band、orientation_concentration、ink_ratio_band、component_norm_band，回答“线条控制是否均衡”。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完整：重点看 ocr_confidence、dominant_share、(1-edge_touch)、subject_edge_safe，回答“有没有断裂、粘连、出框或缺损”。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稳定：重点看 quality_confidence、probability_margin、feature_quality、score_range_fit，回答“这次判断是否可靠、是否落在合理区间”。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四维分全部输出 0-100 的整数，只负责解释主分，不反推 total_score，也不替代 quality_level。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572768"/>
            <a:ext cx="5285232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105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评价与反馈生成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76272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EvaluationService 把 OCR、主分、四维解释层、调试中间量统一装配成 EvaluationResult，形成单次评测的标准结果对象。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feedback 仍然保留单字符串，由 quality_level 对应模板池生成，再结合 total_score 选择更贴近当前水平的文案。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如果 OCR 已识别出汉字，系统会把“识别字 + 当前评测等级”拼进最终反馈，让用户知道系统评的是哪一个字、处在什么水平。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界面层会进一步提炼 strongest / weakest 维度，生成“最强项 / 待提升项”摘要，但不再发明第二套长文案评分系统。</a:t>
            </a:r>
          </a:p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• Qt 结果页强调结果展示，WebUI 详情页额外展开 score_debug 方便调参，MiniApp 只展示用户可理解的评价层。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06 / SURFACES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前端与多终端角色分工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同一个结果对象在不同端承担不同职责：正式展示、调试验证、云端查看、移动端查看。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2880360" cy="41605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t_home_480x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55648"/>
            <a:ext cx="2670048" cy="17800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" y="54406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5F55"/>
                </a:solidFill>
                <a:latin typeface="Microsoft YaHei"/>
              </a:rPr>
              <a:t>Qt 首页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00200"/>
            <a:ext cx="2880360" cy="41605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qt_result_480x3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1755648"/>
            <a:ext cx="2670048" cy="1780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41648" y="54406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5F55"/>
                </a:solidFill>
                <a:latin typeface="Microsoft YaHei"/>
              </a:rPr>
              <a:t>Qt 结果页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05472" y="1600200"/>
            <a:ext cx="2880360" cy="41605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t_history_480x3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55648"/>
            <a:ext cx="2670048" cy="1780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0" y="54406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6A5F55"/>
                </a:solidFill>
                <a:latin typeface="Microsoft YaHei"/>
              </a:rPr>
              <a:t>Qt 历史页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1600200"/>
            <a:ext cx="1417320" cy="416052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8128" y="1828800"/>
            <a:ext cx="10972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WebUI</a:t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调试端</a:t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/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Cloud API</a:t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云端接口</a:t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/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MiniApp</a:t>
            </a:r>
          </a:p>
          <a:p>
            <a:pPr algn="ctr"/>
            <a:r>
              <a:rPr sz="1400" b="1">
                <a:solidFill>
                  <a:srgbClr val="1C1816"/>
                </a:solidFill>
                <a:latin typeface="Microsoft YaHei"/>
              </a:rPr>
              <a:t>轻量查看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Qt 负责正式展示，WebUI 负责 debug 细节，小程序负责轻量查看，云端负责统一结果入口和共享历史。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07 / SCORING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评分体系与训练链路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评分是项目的一部分，而不是全部，但它是项目的核心能力之一，所以单独讲一页。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5303520" cy="43434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470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运行时评分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6634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QualityScorerService 输出 total_score / quality_level / quality_confidence。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保留 probabilities、quality_features、calibration 作为解释基础。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DimensionScorerService 输出 structure / stroke / integrity / stability。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主分 total_score 继续保留为官方分，四维分只负责解释和教学展示。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600200"/>
            <a:ext cx="5303520" cy="434340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4708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训练链路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240280"/>
            <a:ext cx="46634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build_quality_manifest.py 构建质量分档数据。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train_quality_scorer.py 训练主分模型。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导出 quality_scorer.onnx 与 metrics.json。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训练产物直接回到运行时主链，服务端按当前模型输出做校准。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08 / DATA &amp;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数据存储、同步与云端接口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这一页讲项目的持久化能力和跨端一致性，而不是只讲单次评测。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3474720" cy="448056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本地存储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94560"/>
            <a:ext cx="29260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DatabaseService -&gt; SQLite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保存 total_score、feedback、character_name、quality_confidence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新增 dimension_scores_json / score_debug_json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老记录保持 null，不强制回填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474720" cy="448056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同步与云端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194560"/>
            <a:ext cx="29260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CloudSyncService 异步上传结果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Cloud API 统一处理设备上报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CloudDatabase 保存共享历史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列表接口轻量返回，详情接口返回 debug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00200"/>
            <a:ext cx="3383280" cy="448056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小程序 / 查询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194560"/>
            <a:ext cx="283464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MiniApp 读取云端历史与详情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历史列表保持轻量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详情页展示主分、反馈和四维解释分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不展示 score_debug 原始数据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66F3B"/>
                </a:solidFill>
                <a:latin typeface="Microsoft YaHei"/>
              </a:rPr>
              <a:t>09 / ENGINEERING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1816"/>
                </a:solidFill>
                <a:latin typeface="Microsoft YaHei"/>
              </a:rPr>
              <a:t>工程化、测试与部署状态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10607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5F55"/>
                </a:solidFill>
                <a:latin typeface="Microsoft YaHei"/>
              </a:rPr>
              <a:t>最后一页回到项目交付：它现在到底到什么程度，哪些地方已经稳定，哪些地方后面继续做。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5394960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当前已完成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475488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本地单链路评测已跑通。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Qt / WebUI / Cloud API / MiniApp 的结果结构已统一。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draw.io 总流程图与项目 PPT 已和当前代码状态对齐。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单元测试、接口测试、云同步集成测试已通过。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572768"/>
            <a:ext cx="5230368" cy="4526280"/>
          </a:xfrm>
          <a:prstGeom prst="roundRect">
            <a:avLst/>
          </a:prstGeom>
          <a:solidFill>
            <a:srgbClr val="FCF7EF"/>
          </a:solidFill>
          <a:ln w="12700">
            <a:solidFill>
              <a:srgbClr val="DCD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810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1816"/>
                </a:solidFill>
                <a:latin typeface="Microsoft YaHei"/>
              </a:rPr>
              <a:t>下一步优化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176272"/>
            <a:ext cx="4572000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继续优化书法审美相关特征和四维解释口径。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补真实移动端和 WebUI 的人工演示截图。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按树莓派真机环境继续补联调与部署说明。</a:t>
            </a:r>
          </a:p>
          <a:p>
            <a:pPr algn="l"/>
            <a:r>
              <a:rPr sz="1400" b="0">
                <a:solidFill>
                  <a:srgbClr val="6A5F55"/>
                </a:solidFill>
                <a:latin typeface="Microsoft YaHei"/>
              </a:rPr>
              <a:t>• 把答辩版进一步压缩成更短的展示节奏。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